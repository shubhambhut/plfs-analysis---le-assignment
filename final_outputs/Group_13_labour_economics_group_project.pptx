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60" r:id="rId7"/>
    <p:sldId id="269" r:id="rId8"/>
    <p:sldId id="271" r:id="rId9"/>
    <p:sldId id="270" r:id="rId10"/>
    <p:sldId id="268" r:id="rId11"/>
    <p:sldId id="273" r:id="rId12"/>
  </p:sldIdLst>
  <p:sldSz cx="18288000" cy="10287000"/>
  <p:notesSz cx="6858000" cy="9144000"/>
  <p:embeddedFontLst>
    <p:embeddedFont>
      <p:font typeface="Almarai" panose="020B0604020202020204" charset="-78"/>
      <p:regular r:id="rId14"/>
    </p:embeddedFont>
    <p:embeddedFont>
      <p:font typeface="Almarai Bold" panose="020B0604020202020204" charset="-78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E3B2"/>
    <a:srgbClr val="051D4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0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9C8B2-88CB-D94F-8AF9-2A81D74FE6D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5FC62-0F39-DC41-9AA2-8727DD803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dirty="0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The </a:t>
            </a:r>
            <a:r>
              <a:rPr lang="en-US" sz="1200" dirty="0" err="1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labour</a:t>
            </a:r>
            <a:r>
              <a:rPr lang="en-US" sz="1200" dirty="0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 market </a:t>
            </a:r>
            <a:r>
              <a:rPr lang="en-US" sz="1200" dirty="0" err="1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behaviour</a:t>
            </a:r>
            <a:r>
              <a:rPr lang="en-US" sz="1200" dirty="0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 of married women in urban India presents a significant economic paradox. Despite robust GDP growth, falling fertility rates, and rising female educational attainment, the Urban Female </a:t>
            </a:r>
            <a:r>
              <a:rPr lang="en-US" sz="1200" dirty="0" err="1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Labour</a:t>
            </a:r>
            <a:r>
              <a:rPr lang="en-US" sz="1200" dirty="0">
                <a:solidFill>
                  <a:schemeClr val="bg1"/>
                </a:solidFill>
                <a:latin typeface="Almarai"/>
                <a:ea typeface="+mn-lt"/>
                <a:cs typeface="Almarai"/>
              </a:rPr>
              <a:t> Force Participation Rate (LFPR) remains stubbornly low compared to global peers. This phenomenon defies the standard development trajectory observed in East Asian and Western economies.</a:t>
            </a:r>
            <a:endParaRPr lang="en-US" sz="1200" dirty="0">
              <a:solidFill>
                <a:schemeClr val="bg1"/>
              </a:solidFill>
              <a:latin typeface="Almarai"/>
              <a:cs typeface="Almarai"/>
            </a:endParaRPr>
          </a:p>
          <a:p>
            <a:pPr marL="0" lvl="0" indent="0" algn="just">
              <a:lnSpc>
                <a:spcPts val="3057"/>
              </a:lnSpc>
              <a:spcBef>
                <a:spcPct val="0"/>
              </a:spcBef>
            </a:pPr>
            <a:endParaRPr lang="en-US" sz="1200" u="none" strike="noStrike" dirty="0">
              <a:solidFill>
                <a:srgbClr val="FFFFFF"/>
              </a:solidFill>
              <a:latin typeface="Almarai"/>
              <a:ea typeface="Almarai"/>
              <a:cs typeface="Almara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5FC62-0F39-DC41-9AA2-8727DD8038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2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5FC62-0F39-DC41-9AA2-8727DD8038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3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5FC62-0F39-DC41-9AA2-8727DD8038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51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D562-CA44-93CE-1940-F55D2AA6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06229-7123-F2F6-DEA3-404F275B0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872DE-44E5-7853-E250-3C687DCAF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1.5 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2A240-604A-D091-64F1-6A2C6853D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5FC62-0F39-DC41-9AA2-8727DD8038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83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5FC62-0F39-DC41-9AA2-8727DD8038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2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2.svg"/><Relationship Id="rId4" Type="http://schemas.openxmlformats.org/officeDocument/2006/relationships/image" Target="../media/image7.sv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icrodata.gov.in/NADA/index.php/catalog/21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lfsanalysis.streamlit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ubhamBhut/PLFS-Analysis---LE-Assignment" TargetMode="External"/><Relationship Id="rId2" Type="http://schemas.openxmlformats.org/officeDocument/2006/relationships/hyperlink" Target="https://microdata.gov.in/NADA/index.php/catalog/213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016" y="3298553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104883" y="-467457"/>
            <a:ext cx="3922061" cy="4504759"/>
            <a:chOff x="0" y="0"/>
            <a:chExt cx="4445000" cy="6350000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19813193" y="7208500"/>
            <a:ext cx="2564685" cy="3663835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39349" y="-859354"/>
            <a:ext cx="1683983" cy="2405689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44981" y="3464712"/>
            <a:ext cx="6704863" cy="8780869"/>
            <a:chOff x="0" y="0"/>
            <a:chExt cx="4445000" cy="6350000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r="-126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468733" y="-134642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46882" y="6676508"/>
            <a:ext cx="7116548" cy="388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spc="432" dirty="0">
                <a:solidFill>
                  <a:srgbClr val="17E3B2"/>
                </a:solidFill>
                <a:latin typeface="Aptos" panose="020B0004020202020204" pitchFamily="34" charset="0"/>
                <a:ea typeface="Almarai"/>
                <a:cs typeface="Almarai"/>
                <a:sym typeface="Almarai"/>
              </a:rPr>
              <a:t>Presented by</a:t>
            </a:r>
            <a:r>
              <a:rPr lang="en-US" sz="2800" spc="432" dirty="0">
                <a:solidFill>
                  <a:srgbClr val="17E3B2"/>
                </a:solidFill>
                <a:latin typeface="Aptos" panose="020B0004020202020204" pitchFamily="34" charset="0"/>
                <a:ea typeface="Almarai"/>
                <a:cs typeface="Almarai"/>
                <a:sym typeface="Almarai"/>
              </a:rPr>
              <a:t>: </a:t>
            </a:r>
          </a:p>
          <a:p>
            <a:endParaRPr lang="en-US" sz="2400" spc="432" dirty="0">
              <a:solidFill>
                <a:srgbClr val="FFFFFF"/>
              </a:solidFill>
              <a:latin typeface="Aptos" panose="020B0004020202020204" pitchFamily="34" charset="0"/>
              <a:ea typeface="Almarai"/>
              <a:cs typeface="Almarai"/>
              <a:sym typeface="Almarai"/>
            </a:endParaRPr>
          </a:p>
          <a:p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Almarai"/>
                <a:cs typeface="Times New Roman"/>
                <a:sym typeface="Almarai"/>
              </a:rPr>
              <a:t>Bhut Shubham </a:t>
            </a:r>
            <a:r>
              <a:rPr lang="en-US" sz="2400" b="1" spc="432" dirty="0" err="1">
                <a:solidFill>
                  <a:srgbClr val="FFFFFF"/>
                </a:solidFill>
                <a:latin typeface="Aptos" panose="020B0004020202020204" pitchFamily="34" charset="0"/>
                <a:ea typeface="Almarai"/>
                <a:cs typeface="Times New Roman"/>
                <a:sym typeface="Almarai"/>
              </a:rPr>
              <a:t>Kishorbhai</a:t>
            </a:r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Almarai"/>
                <a:cs typeface="Times New Roman"/>
                <a:sym typeface="Almarai"/>
              </a:rPr>
              <a:t> (H77-25)</a:t>
            </a:r>
            <a:endParaRPr lang="en-US" sz="2400" dirty="0">
              <a:solidFill>
                <a:srgbClr val="000000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Abantika Karmakar (H74-25)</a:t>
            </a: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Farzana Ehsaan (H14-25)</a:t>
            </a: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Shivam Bhardwaj (H64-25)</a:t>
            </a: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Botta Navaneeth (H65-25)</a:t>
            </a: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2400" b="1" spc="432" dirty="0" err="1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Teella</a:t>
            </a:r>
            <a:r>
              <a:rPr lang="en-US" sz="2400" b="1" spc="432" dirty="0">
                <a:solidFill>
                  <a:srgbClr val="FFFFFF"/>
                </a:solidFill>
                <a:latin typeface="Aptos" panose="020B0004020202020204" pitchFamily="34" charset="0"/>
                <a:ea typeface="Calibri"/>
                <a:cs typeface="Times New Roman"/>
              </a:rPr>
              <a:t> Bharath Kalyan (H86-25)</a:t>
            </a: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  <a:p>
            <a:pPr>
              <a:lnSpc>
                <a:spcPts val="3479"/>
              </a:lnSpc>
              <a:spcBef>
                <a:spcPct val="0"/>
              </a:spcBef>
            </a:pPr>
            <a:endParaRPr lang="en-US" sz="2400" spc="432" dirty="0">
              <a:solidFill>
                <a:srgbClr val="FFFFFF"/>
              </a:solidFill>
              <a:latin typeface="Aptos" panose="020B0004020202020204" pitchFamily="34" charset="0"/>
              <a:ea typeface="Calibri"/>
              <a:cs typeface="Almarai"/>
            </a:endParaRPr>
          </a:p>
          <a:p>
            <a:pPr>
              <a:lnSpc>
                <a:spcPts val="3479"/>
              </a:lnSpc>
              <a:spcBef>
                <a:spcPct val="0"/>
              </a:spcBef>
            </a:pPr>
            <a:endParaRPr lang="en-US" sz="2400" dirty="0"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6881" y="530673"/>
            <a:ext cx="12881251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Group Project: </a:t>
            </a:r>
            <a:r>
              <a:rPr lang="en-US" sz="66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Labour</a:t>
            </a: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Economics </a:t>
            </a:r>
            <a:endParaRPr lang="en-US" sz="6600" b="1" dirty="0">
              <a:solidFill>
                <a:srgbClr val="FFFFFF"/>
              </a:solidFill>
              <a:latin typeface="Almarai Bold"/>
              <a:ea typeface="Almarai Bold"/>
              <a:cs typeface="Almarai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7918" y="3880589"/>
            <a:ext cx="982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 err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Labour</a:t>
            </a:r>
            <a:r>
              <a:rPr lang="en-US" sz="48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 Participation of Urban married women in India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8880" y="2445039"/>
            <a:ext cx="1494952" cy="1622959"/>
            <a:chOff x="76200" y="28575"/>
            <a:chExt cx="812800" cy="872075"/>
          </a:xfrm>
        </p:grpSpPr>
        <p:sp>
          <p:nvSpPr>
            <p:cNvPr id="3" name="Freeform 3"/>
            <p:cNvSpPr/>
            <p:nvPr/>
          </p:nvSpPr>
          <p:spPr>
            <a:xfrm>
              <a:off x="76200" y="8785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  <p:txBody>
            <a:bodyPr lIns="91440" tIns="45720" rIns="91440" bIns="45720" anchor="t"/>
            <a:lstStyle/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175005" y="3313826"/>
            <a:ext cx="721898" cy="1044852"/>
          </a:xfrm>
          <a:custGeom>
            <a:avLst/>
            <a:gdLst/>
            <a:ahLst/>
            <a:cxnLst/>
            <a:rect l="l" t="t" r="r" b="b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50267" y="2817003"/>
            <a:ext cx="1029822" cy="1041181"/>
          </a:xfrm>
          <a:custGeom>
            <a:avLst/>
            <a:gdLst/>
            <a:ahLst/>
            <a:cxnLst/>
            <a:rect l="l" t="t" r="r" b="b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15966398" y="9258300"/>
            <a:ext cx="13457994" cy="3264379"/>
            <a:chOff x="0" y="0"/>
            <a:chExt cx="17943995" cy="43525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b="-26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b="-262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678080" y="-4717815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26211" r="-126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3944905" y="9261915"/>
            <a:ext cx="841991" cy="84199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26211" r="-126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6093" y="2501678"/>
            <a:ext cx="106780" cy="1852901"/>
            <a:chOff x="0" y="0"/>
            <a:chExt cx="24893" cy="56122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893" cy="561223"/>
            </a:xfrm>
            <a:custGeom>
              <a:avLst/>
              <a:gdLst/>
              <a:ahLst/>
              <a:cxnLst/>
              <a:rect l="l" t="t" r="r" b="b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19483" y="273419"/>
            <a:ext cx="16583759" cy="3154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11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CORE ECONOMIC QUESTION &amp; RELEVENT LABOR MARKET CONCEPTS</a:t>
            </a:r>
          </a:p>
          <a:p>
            <a:pPr marL="0" lvl="0" indent="0">
              <a:lnSpc>
                <a:spcPts val="8211"/>
              </a:lnSpc>
              <a:spcBef>
                <a:spcPct val="0"/>
              </a:spcBef>
            </a:pPr>
            <a:endParaRPr lang="en-US" sz="66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855961" y="2802348"/>
            <a:ext cx="13112729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47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</a:rPr>
              <a:t>CORE QUESTION:</a:t>
            </a:r>
            <a:r>
              <a:rPr lang="en-US" sz="28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</a:rPr>
              <a:t> </a:t>
            </a:r>
            <a:r>
              <a:rPr lang="en-US" sz="2800" b="1" dirty="0">
                <a:solidFill>
                  <a:srgbClr val="FFFFFF"/>
                </a:solidFill>
                <a:ea typeface="+mn-lt"/>
                <a:cs typeface="+mn-lt"/>
              </a:rPr>
              <a:t>How do preferences and wage rates affect the </a:t>
            </a:r>
            <a:r>
              <a:rPr lang="en-US" sz="2800" b="1" dirty="0" err="1">
                <a:solidFill>
                  <a:srgbClr val="FFFFFF"/>
                </a:solidFill>
                <a:ea typeface="+mn-lt"/>
                <a:cs typeface="+mn-lt"/>
              </a:rPr>
              <a:t>labour</a:t>
            </a:r>
            <a:r>
              <a:rPr lang="en-US" sz="2800" b="1" dirty="0">
                <a:solidFill>
                  <a:srgbClr val="FFFFFF"/>
                </a:solidFill>
                <a:ea typeface="+mn-lt"/>
                <a:cs typeface="+mn-lt"/>
              </a:rPr>
              <a:t> participation decision of married women in urban India?</a:t>
            </a:r>
            <a:endParaRPr lang="en-US" sz="2800" b="1" dirty="0">
              <a:solidFill>
                <a:srgbClr val="FFFFFF"/>
              </a:solidFill>
              <a:latin typeface="Almarai Bold"/>
              <a:ea typeface="Almarai Bold"/>
              <a:cs typeface="Almarai Bold"/>
            </a:endParaRPr>
          </a:p>
          <a:p>
            <a:pPr>
              <a:lnSpc>
                <a:spcPts val="3747"/>
              </a:lnSpc>
              <a:spcBef>
                <a:spcPct val="0"/>
              </a:spcBef>
            </a:pPr>
            <a:endParaRPr lang="en-US" sz="2700" b="1" dirty="0">
              <a:solidFill>
                <a:srgbClr val="FFFFFF"/>
              </a:solidFill>
              <a:latin typeface="Almarai Bold"/>
              <a:ea typeface="Almarai Bold"/>
              <a:cs typeface="Almarai Bold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599255-C706-D428-6850-4D171A22A2A8}"/>
              </a:ext>
            </a:extLst>
          </p:cNvPr>
          <p:cNvGrpSpPr/>
          <p:nvPr/>
        </p:nvGrpSpPr>
        <p:grpSpPr>
          <a:xfrm>
            <a:off x="815502" y="4855739"/>
            <a:ext cx="7415309" cy="1885644"/>
            <a:chOff x="939472" y="1945568"/>
            <a:chExt cx="7415309" cy="188564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295209E-EC5B-3BD7-9CBA-C8F31F2A2C4A}"/>
                </a:ext>
              </a:extLst>
            </p:cNvPr>
            <p:cNvGrpSpPr/>
            <p:nvPr/>
          </p:nvGrpSpPr>
          <p:grpSpPr>
            <a:xfrm>
              <a:off x="939472" y="2193453"/>
              <a:ext cx="911914" cy="911914"/>
              <a:chOff x="1018618" y="2426556"/>
              <a:chExt cx="911914" cy="911914"/>
            </a:xfrm>
          </p:grpSpPr>
          <p:grpSp>
            <p:nvGrpSpPr>
              <p:cNvPr id="6" name="Group 2"/>
              <p:cNvGrpSpPr/>
              <p:nvPr/>
            </p:nvGrpSpPr>
            <p:grpSpPr>
              <a:xfrm>
                <a:off x="1018618" y="2426556"/>
                <a:ext cx="911914" cy="911914"/>
                <a:chOff x="0" y="0"/>
                <a:chExt cx="812800" cy="812800"/>
              </a:xfrm>
            </p:grpSpPr>
            <p:sp>
              <p:nvSpPr>
                <p:cNvPr id="28" name="Freeform 3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7E3B2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TextBox 4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05"/>
                    </a:lnSpc>
                  </a:pPr>
                  <a:endParaRPr/>
                </a:p>
              </p:txBody>
            </p:sp>
          </p:grpSp>
          <p:sp>
            <p:nvSpPr>
              <p:cNvPr id="7" name="TextBox 21"/>
              <p:cNvSpPr txBox="1"/>
              <p:nvPr/>
            </p:nvSpPr>
            <p:spPr>
              <a:xfrm>
                <a:off x="1048561" y="2536998"/>
                <a:ext cx="880028" cy="68489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5526"/>
                  </a:lnSpc>
                  <a:spcBef>
                    <a:spcPct val="0"/>
                  </a:spcBef>
                </a:pPr>
                <a:r>
                  <a:rPr lang="en-US" sz="4004" b="1" dirty="0">
                    <a:solidFill>
                      <a:srgbClr val="051D40"/>
                    </a:solidFill>
                    <a:latin typeface="Aptos" panose="020B0004020202020204" pitchFamily="34" charset="0"/>
                    <a:ea typeface="Almarai Bold"/>
                    <a:cs typeface="Almarai Bold"/>
                    <a:sym typeface="Almarai Bold"/>
                  </a:rPr>
                  <a:t>01</a:t>
                </a:r>
              </a:p>
            </p:txBody>
          </p:sp>
        </p:grpSp>
        <p:sp>
          <p:nvSpPr>
            <p:cNvPr id="5" name="TextBox 25"/>
            <p:cNvSpPr txBox="1"/>
            <p:nvPr/>
          </p:nvSpPr>
          <p:spPr>
            <a:xfrm>
              <a:off x="2242818" y="1945568"/>
              <a:ext cx="6111963" cy="18856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006"/>
                </a:lnSpc>
                <a:spcBef>
                  <a:spcPct val="0"/>
                </a:spcBef>
              </a:pPr>
              <a:r>
                <a:rPr lang="en-IN" sz="2200" b="1" dirty="0">
                  <a:solidFill>
                    <a:srgbClr val="17E3B2"/>
                  </a:solidFill>
                  <a:latin typeface="Aptos" panose="020B0004020202020204" pitchFamily="34" charset="0"/>
                </a:rPr>
                <a:t>Labour Supply Theory (Work–Leisure Choice)</a:t>
              </a:r>
              <a:b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</a:br>
              <a: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Labour supply reflects time allocation between paid work and leisure based on wages and preferences, including unpaid household work.</a:t>
              </a:r>
            </a:p>
            <a:p>
              <a:pPr algn="just">
                <a:lnSpc>
                  <a:spcPts val="3006"/>
                </a:lnSpc>
                <a:spcBef>
                  <a:spcPct val="0"/>
                </a:spcBef>
              </a:pPr>
              <a:endParaRPr lang="en-US" sz="2000" dirty="0">
                <a:solidFill>
                  <a:srgbClr val="FFFFFF"/>
                </a:solidFill>
                <a:latin typeface="Almarai"/>
                <a:cs typeface="Almarai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6F42DF-7D60-9BBE-2166-9EF5238D3A29}"/>
              </a:ext>
            </a:extLst>
          </p:cNvPr>
          <p:cNvGrpSpPr/>
          <p:nvPr/>
        </p:nvGrpSpPr>
        <p:grpSpPr>
          <a:xfrm>
            <a:off x="9768634" y="4867057"/>
            <a:ext cx="7065972" cy="1046440"/>
            <a:chOff x="939472" y="3678813"/>
            <a:chExt cx="7065972" cy="104644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9DC1258-E5B8-A2C5-FDDF-5AF484EC5E40}"/>
                </a:ext>
              </a:extLst>
            </p:cNvPr>
            <p:cNvGrpSpPr/>
            <p:nvPr/>
          </p:nvGrpSpPr>
          <p:grpSpPr>
            <a:xfrm>
              <a:off x="939472" y="3813339"/>
              <a:ext cx="911914" cy="911914"/>
              <a:chOff x="1036759" y="3763664"/>
              <a:chExt cx="911914" cy="911914"/>
            </a:xfrm>
          </p:grpSpPr>
          <p:grpSp>
            <p:nvGrpSpPr>
              <p:cNvPr id="30" name="Group 5"/>
              <p:cNvGrpSpPr/>
              <p:nvPr/>
            </p:nvGrpSpPr>
            <p:grpSpPr>
              <a:xfrm>
                <a:off x="1036759" y="3763664"/>
                <a:ext cx="911914" cy="911914"/>
                <a:chOff x="0" y="0"/>
                <a:chExt cx="812800" cy="812800"/>
              </a:xfrm>
            </p:grpSpPr>
            <p:sp>
              <p:nvSpPr>
                <p:cNvPr id="39" name="Freeform 6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7E3B2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TextBox 7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05"/>
                    </a:lnSpc>
                  </a:pPr>
                  <a:endParaRPr/>
                </a:p>
              </p:txBody>
            </p:sp>
          </p:grpSp>
          <p:sp>
            <p:nvSpPr>
              <p:cNvPr id="37" name="TextBox 22"/>
              <p:cNvSpPr txBox="1"/>
              <p:nvPr/>
            </p:nvSpPr>
            <p:spPr>
              <a:xfrm>
                <a:off x="1039102" y="3877821"/>
                <a:ext cx="880028" cy="68489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5526"/>
                  </a:lnSpc>
                  <a:spcBef>
                    <a:spcPct val="0"/>
                  </a:spcBef>
                </a:pPr>
                <a:r>
                  <a:rPr lang="en-US" sz="4004" b="1" dirty="0">
                    <a:solidFill>
                      <a:srgbClr val="051D40"/>
                    </a:solidFill>
                    <a:latin typeface="Aptos" panose="020B0004020202020204" pitchFamily="34" charset="0"/>
                    <a:ea typeface="Almarai Bold"/>
                    <a:cs typeface="Almarai Bold"/>
                    <a:sym typeface="Almarai Bold"/>
                  </a:rPr>
                  <a:t>02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9632CDE-5078-EDA3-B69C-2D701CB2901F}"/>
                </a:ext>
              </a:extLst>
            </p:cNvPr>
            <p:cNvSpPr txBox="1"/>
            <p:nvPr/>
          </p:nvSpPr>
          <p:spPr>
            <a:xfrm>
              <a:off x="2139725" y="3678813"/>
              <a:ext cx="5865719" cy="104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rgbClr val="17E3B2"/>
                  </a:solidFill>
                  <a:latin typeface="Aptos" panose="020B0004020202020204" pitchFamily="34" charset="0"/>
                </a:rPr>
                <a:t>Substitution Effect</a:t>
              </a:r>
              <a:br>
                <a:rPr lang="en-IN" dirty="0">
                  <a:solidFill>
                    <a:schemeClr val="bg1"/>
                  </a:solidFill>
                  <a:latin typeface="Aptos" panose="020B0004020202020204" pitchFamily="34" charset="0"/>
                </a:rPr>
              </a:br>
              <a: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Higher wages increase the incentive to work by raising the relative return to labour.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0A160BD-F8F5-2047-D7CC-9F9621E45CD9}"/>
              </a:ext>
            </a:extLst>
          </p:cNvPr>
          <p:cNvGrpSpPr/>
          <p:nvPr/>
        </p:nvGrpSpPr>
        <p:grpSpPr>
          <a:xfrm>
            <a:off x="1025604" y="7044471"/>
            <a:ext cx="6995105" cy="1606081"/>
            <a:chOff x="1010338" y="4999247"/>
            <a:chExt cx="6995105" cy="160608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1FC10B5-F6E4-8827-2625-2C60B0CC1745}"/>
                </a:ext>
              </a:extLst>
            </p:cNvPr>
            <p:cNvGrpSpPr/>
            <p:nvPr/>
          </p:nvGrpSpPr>
          <p:grpSpPr>
            <a:xfrm>
              <a:off x="1010338" y="5373048"/>
              <a:ext cx="911914" cy="911914"/>
              <a:chOff x="1066284" y="5077921"/>
              <a:chExt cx="911914" cy="911914"/>
            </a:xfrm>
          </p:grpSpPr>
          <p:grpSp>
            <p:nvGrpSpPr>
              <p:cNvPr id="50" name="Group 8"/>
              <p:cNvGrpSpPr/>
              <p:nvPr/>
            </p:nvGrpSpPr>
            <p:grpSpPr>
              <a:xfrm>
                <a:off x="1066284" y="5077921"/>
                <a:ext cx="911914" cy="911914"/>
                <a:chOff x="27911" y="0"/>
                <a:chExt cx="812800" cy="812800"/>
              </a:xfrm>
            </p:grpSpPr>
            <p:sp>
              <p:nvSpPr>
                <p:cNvPr id="56" name="Freeform 9"/>
                <p:cNvSpPr/>
                <p:nvPr/>
              </p:nvSpPr>
              <p:spPr>
                <a:xfrm>
                  <a:off x="27911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7E3B2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TextBox 10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05"/>
                    </a:lnSpc>
                  </a:pPr>
                  <a:endParaRPr/>
                </a:p>
              </p:txBody>
            </p:sp>
          </p:grpSp>
          <p:sp>
            <p:nvSpPr>
              <p:cNvPr id="52" name="TextBox 23"/>
              <p:cNvSpPr txBox="1"/>
              <p:nvPr/>
            </p:nvSpPr>
            <p:spPr>
              <a:xfrm>
                <a:off x="1080570" y="5200304"/>
                <a:ext cx="880028" cy="68489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5526"/>
                  </a:lnSpc>
                  <a:spcBef>
                    <a:spcPct val="0"/>
                  </a:spcBef>
                </a:pPr>
                <a:r>
                  <a:rPr lang="en-US" sz="4004" b="1" dirty="0">
                    <a:solidFill>
                      <a:srgbClr val="051D40"/>
                    </a:solidFill>
                    <a:latin typeface="Aptos" panose="020B0004020202020204" pitchFamily="34" charset="0"/>
                    <a:ea typeface="Almarai Bold"/>
                    <a:cs typeface="Almarai Bold"/>
                    <a:sym typeface="Almarai Bold"/>
                  </a:rPr>
                  <a:t>03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63965F6-C2E5-8E64-9EF2-F3F1D661FAA6}"/>
                </a:ext>
              </a:extLst>
            </p:cNvPr>
            <p:cNvSpPr txBox="1"/>
            <p:nvPr/>
          </p:nvSpPr>
          <p:spPr>
            <a:xfrm>
              <a:off x="2139724" y="4999247"/>
              <a:ext cx="5865719" cy="1606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3006"/>
                </a:lnSpc>
                <a:spcBef>
                  <a:spcPct val="0"/>
                </a:spcBef>
              </a:pPr>
              <a:r>
                <a:rPr lang="en-IN" sz="2200" b="1" dirty="0">
                  <a:solidFill>
                    <a:srgbClr val="17E3B2"/>
                  </a:solidFill>
                  <a:latin typeface="Aptos" panose="020B0004020202020204" pitchFamily="34" charset="0"/>
                </a:rPr>
                <a:t>Income Effect</a:t>
              </a:r>
              <a:b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</a:br>
              <a: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Higher household income reduces labour supply; in urban India, husband’s income often leads to withdrawal.</a:t>
              </a:r>
              <a:endParaRPr lang="en-US" sz="2000" dirty="0">
                <a:solidFill>
                  <a:schemeClr val="bg1"/>
                </a:solidFill>
                <a:latin typeface="Aptos" panose="020B0004020202020204" pitchFamily="34" charset="0"/>
                <a:cs typeface="Almarai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EAA06FF-D597-78E3-4125-244AEB7F2A8B}"/>
              </a:ext>
            </a:extLst>
          </p:cNvPr>
          <p:cNvGrpSpPr/>
          <p:nvPr/>
        </p:nvGrpSpPr>
        <p:grpSpPr>
          <a:xfrm>
            <a:off x="9749731" y="6933009"/>
            <a:ext cx="7032383" cy="1354217"/>
            <a:chOff x="973060" y="6800622"/>
            <a:chExt cx="7032383" cy="135421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5B66CEF-0DA1-4B82-E98D-9D65E2A6FACD}"/>
                </a:ext>
              </a:extLst>
            </p:cNvPr>
            <p:cNvGrpSpPr/>
            <p:nvPr/>
          </p:nvGrpSpPr>
          <p:grpSpPr>
            <a:xfrm>
              <a:off x="973060" y="6956021"/>
              <a:ext cx="923839" cy="911914"/>
              <a:chOff x="1052416" y="6362814"/>
              <a:chExt cx="923839" cy="911914"/>
            </a:xfrm>
          </p:grpSpPr>
          <p:grpSp>
            <p:nvGrpSpPr>
              <p:cNvPr id="61" name="Group 5">
                <a:extLst>
                  <a:ext uri="{FF2B5EF4-FFF2-40B4-BE49-F238E27FC236}">
                    <a16:creationId xmlns:a16="http://schemas.microsoft.com/office/drawing/2014/main" id="{039CD459-5DED-5608-F77F-23A4E9CE2B8F}"/>
                  </a:ext>
                </a:extLst>
              </p:cNvPr>
              <p:cNvGrpSpPr/>
              <p:nvPr/>
            </p:nvGrpSpPr>
            <p:grpSpPr>
              <a:xfrm>
                <a:off x="1052416" y="6362814"/>
                <a:ext cx="911914" cy="911914"/>
                <a:chOff x="0" y="0"/>
                <a:chExt cx="812800" cy="812800"/>
              </a:xfrm>
            </p:grpSpPr>
            <p:sp>
              <p:nvSpPr>
                <p:cNvPr id="63" name="Freeform 6">
                  <a:extLst>
                    <a:ext uri="{FF2B5EF4-FFF2-40B4-BE49-F238E27FC236}">
                      <a16:creationId xmlns:a16="http://schemas.microsoft.com/office/drawing/2014/main" id="{43AB76F9-5B4E-E45E-8CA6-D96906A1FDB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7E3B2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TextBox 7">
                  <a:extLst>
                    <a:ext uri="{FF2B5EF4-FFF2-40B4-BE49-F238E27FC236}">
                      <a16:creationId xmlns:a16="http://schemas.microsoft.com/office/drawing/2014/main" id="{020BD7E8-5D66-FE8B-377D-BA2ED5DB1C37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05"/>
                    </a:lnSpc>
                  </a:pPr>
                  <a:endParaRPr/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8541B54-6747-56A7-8594-CA1FE4596EB0}"/>
                  </a:ext>
                </a:extLst>
              </p:cNvPr>
              <p:cNvSpPr txBox="1"/>
              <p:nvPr/>
            </p:nvSpPr>
            <p:spPr>
              <a:xfrm>
                <a:off x="1096227" y="6468563"/>
                <a:ext cx="880028" cy="67108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5526"/>
                  </a:lnSpc>
                  <a:spcBef>
                    <a:spcPct val="0"/>
                  </a:spcBef>
                </a:pPr>
                <a:r>
                  <a:rPr lang="en-US" sz="4000" b="1" dirty="0">
                    <a:solidFill>
                      <a:srgbClr val="051D40"/>
                    </a:solidFill>
                    <a:latin typeface="Aptos" panose="020B0004020202020204" pitchFamily="34" charset="0"/>
                    <a:ea typeface="Almarai Bold"/>
                    <a:cs typeface="Almarai Bold"/>
                    <a:sym typeface="Almarai Bold"/>
                  </a:rPr>
                  <a:t>04</a:t>
                </a:r>
                <a:endParaRPr lang="en-US" sz="4004" b="1" dirty="0">
                  <a:solidFill>
                    <a:srgbClr val="051D40"/>
                  </a:solidFill>
                  <a:latin typeface="Aptos" panose="020B0004020202020204" pitchFamily="34" charset="0"/>
                  <a:ea typeface="Almarai Bold"/>
                  <a:cs typeface="Almarai Bold"/>
                  <a:sym typeface="Almarai Bold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DECB773-D9F5-FC3B-9B3F-436DC9785441}"/>
                </a:ext>
              </a:extLst>
            </p:cNvPr>
            <p:cNvSpPr txBox="1"/>
            <p:nvPr/>
          </p:nvSpPr>
          <p:spPr>
            <a:xfrm>
              <a:off x="2139724" y="6800622"/>
              <a:ext cx="5865719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rgbClr val="17E3B2"/>
                  </a:solidFill>
                  <a:latin typeface="Aptos" panose="020B0004020202020204" pitchFamily="34" charset="0"/>
                </a:rPr>
                <a:t>Household Decision-Making Models</a:t>
              </a:r>
              <a:b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</a:br>
              <a: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Labour supply decisions are made at the household level, with husband’s earnings acting as non-labour income.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60BF498-6613-ED45-CBD0-88E65BBF3F4B}"/>
              </a:ext>
            </a:extLst>
          </p:cNvPr>
          <p:cNvGrpSpPr/>
          <p:nvPr/>
        </p:nvGrpSpPr>
        <p:grpSpPr>
          <a:xfrm>
            <a:off x="5174829" y="8663225"/>
            <a:ext cx="7123661" cy="1221360"/>
            <a:chOff x="951891" y="8309023"/>
            <a:chExt cx="7123661" cy="122136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748BF87-6BE3-D1CC-B9EF-40C3823D9955}"/>
                </a:ext>
              </a:extLst>
            </p:cNvPr>
            <p:cNvGrpSpPr/>
            <p:nvPr/>
          </p:nvGrpSpPr>
          <p:grpSpPr>
            <a:xfrm>
              <a:off x="951891" y="8580529"/>
              <a:ext cx="915076" cy="911914"/>
              <a:chOff x="1049254" y="7490156"/>
              <a:chExt cx="915076" cy="911914"/>
            </a:xfrm>
          </p:grpSpPr>
          <p:grpSp>
            <p:nvGrpSpPr>
              <p:cNvPr id="68" name="Group 5">
                <a:extLst>
                  <a:ext uri="{FF2B5EF4-FFF2-40B4-BE49-F238E27FC236}">
                    <a16:creationId xmlns:a16="http://schemas.microsoft.com/office/drawing/2014/main" id="{DA8544DD-AAF7-05E3-73A3-E8182A993C6E}"/>
                  </a:ext>
                </a:extLst>
              </p:cNvPr>
              <p:cNvGrpSpPr/>
              <p:nvPr/>
            </p:nvGrpSpPr>
            <p:grpSpPr>
              <a:xfrm>
                <a:off x="1052416" y="7490156"/>
                <a:ext cx="911914" cy="911914"/>
                <a:chOff x="0" y="0"/>
                <a:chExt cx="812800" cy="812800"/>
              </a:xfrm>
            </p:grpSpPr>
            <p:sp>
              <p:nvSpPr>
                <p:cNvPr id="70" name="Freeform 6">
                  <a:extLst>
                    <a:ext uri="{FF2B5EF4-FFF2-40B4-BE49-F238E27FC236}">
                      <a16:creationId xmlns:a16="http://schemas.microsoft.com/office/drawing/2014/main" id="{642E0523-9B56-5466-1B55-385CAB5924B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7E3B2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TextBox 7">
                  <a:extLst>
                    <a:ext uri="{FF2B5EF4-FFF2-40B4-BE49-F238E27FC236}">
                      <a16:creationId xmlns:a16="http://schemas.microsoft.com/office/drawing/2014/main" id="{BB8746CB-2475-4756-1C3C-F6B7E30B778F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05"/>
                    </a:lnSpc>
                  </a:pPr>
                  <a:endParaRPr/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597E9E9-7DB5-4432-CEF4-B96497F2A68C}"/>
                  </a:ext>
                </a:extLst>
              </p:cNvPr>
              <p:cNvSpPr txBox="1"/>
              <p:nvPr/>
            </p:nvSpPr>
            <p:spPr>
              <a:xfrm>
                <a:off x="1049254" y="7595905"/>
                <a:ext cx="880028" cy="67108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5526"/>
                  </a:lnSpc>
                  <a:spcBef>
                    <a:spcPct val="0"/>
                  </a:spcBef>
                </a:pPr>
                <a:r>
                  <a:rPr lang="en-US" sz="4000" b="1" dirty="0">
                    <a:solidFill>
                      <a:srgbClr val="051D40"/>
                    </a:solidFill>
                    <a:latin typeface="Aptos" panose="020B0004020202020204" pitchFamily="34" charset="0"/>
                    <a:ea typeface="Almarai Bold"/>
                    <a:cs typeface="Almarai Bold"/>
                    <a:sym typeface="Almarai Bold"/>
                  </a:rPr>
                  <a:t>05</a:t>
                </a:r>
                <a:endParaRPr lang="en-US" sz="4004" b="1" dirty="0">
                  <a:solidFill>
                    <a:srgbClr val="051D40"/>
                  </a:solidFill>
                  <a:latin typeface="Aptos" panose="020B0004020202020204" pitchFamily="34" charset="0"/>
                  <a:ea typeface="Almarai Bold"/>
                  <a:cs typeface="Almarai Bold"/>
                  <a:sym typeface="Almarai Bold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17FC700-9ACE-33F5-7C0E-6C0CCDF4816D}"/>
                </a:ext>
              </a:extLst>
            </p:cNvPr>
            <p:cNvSpPr txBox="1"/>
            <p:nvPr/>
          </p:nvSpPr>
          <p:spPr>
            <a:xfrm>
              <a:off x="2209833" y="8309023"/>
              <a:ext cx="5865719" cy="1221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3006"/>
                </a:lnSpc>
                <a:spcBef>
                  <a:spcPct val="0"/>
                </a:spcBef>
              </a:pPr>
              <a:r>
                <a:rPr lang="en-IN" sz="2200" b="1" dirty="0">
                  <a:solidFill>
                    <a:srgbClr val="17E3B2"/>
                  </a:solidFill>
                  <a:latin typeface="Aptos" panose="020B0004020202020204" pitchFamily="34" charset="0"/>
                </a:rPr>
                <a:t>Opportunity Cost of Time</a:t>
              </a:r>
              <a:b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</a:br>
              <a:r>
                <a:rPr lang="en-IN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Domestic and childcare responsibilities raise the cost of market work, discouraging participation.</a:t>
              </a:r>
              <a:endParaRPr lang="en-US" sz="2000" dirty="0">
                <a:solidFill>
                  <a:schemeClr val="bg1"/>
                </a:solidFill>
                <a:latin typeface="Aptos" panose="020B0004020202020204" pitchFamily="34" charset="0"/>
                <a:cs typeface="Almara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3086101" y="693694"/>
            <a:ext cx="1828800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34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DATA &amp; INTERPRETATION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8405" y="3901130"/>
            <a:ext cx="8460280" cy="43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7"/>
              </a:lnSpc>
              <a:spcBef>
                <a:spcPct val="0"/>
              </a:spcBef>
            </a:pPr>
            <a:endParaRPr lang="en-US" sz="2715" u="none" strike="noStrike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A20B8-B3E9-2826-EAE9-7F1EA1BBB5EB}"/>
              </a:ext>
            </a:extLst>
          </p:cNvPr>
          <p:cNvSpPr txBox="1"/>
          <p:nvPr/>
        </p:nvSpPr>
        <p:spPr>
          <a:xfrm>
            <a:off x="693060" y="1373216"/>
            <a:ext cx="14097000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63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7E3B2"/>
                </a:solidFill>
                <a:latin typeface="Aptos" panose="020B0004020202020204" pitchFamily="34" charset="0"/>
                <a:ea typeface="Almarai Bold"/>
                <a:cs typeface="Almarai Bold"/>
                <a:sym typeface="Almarai Bold"/>
              </a:rPr>
              <a:t>Data Source:  </a:t>
            </a:r>
            <a:r>
              <a:rPr lang="en-IN" sz="2400" b="1" dirty="0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Periodic Labour Force Survey (PLFS), 2023–2024</a:t>
            </a:r>
          </a:p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sample: ~40k urban married women (from ~400k observations)</a:t>
            </a:r>
            <a:r>
              <a:rPr lang="en-IN" sz="2400" b="1" dirty="0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2400" b="1" dirty="0" err="1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analyzed</a:t>
            </a:r>
            <a:r>
              <a:rPr lang="en-IN" sz="2400" b="1" dirty="0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on 30 parameters</a:t>
            </a:r>
            <a:endParaRPr lang="en-GB" sz="2400" b="1" dirty="0">
              <a:solidFill>
                <a:schemeClr val="bg1"/>
              </a:solidFill>
              <a:latin typeface="Aptos" panose="020B00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5D43246-DFCB-7C82-1175-603813D2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30785"/>
              </p:ext>
            </p:extLst>
          </p:nvPr>
        </p:nvGraphicFramePr>
        <p:xfrm>
          <a:off x="1088660" y="3240489"/>
          <a:ext cx="7125948" cy="29260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81487">
                  <a:extLst>
                    <a:ext uri="{9D8B030D-6E8A-4147-A177-3AD203B41FA5}">
                      <a16:colId xmlns:a16="http://schemas.microsoft.com/office/drawing/2014/main" val="478925534"/>
                    </a:ext>
                  </a:extLst>
                </a:gridCol>
                <a:gridCol w="1781487">
                  <a:extLst>
                    <a:ext uri="{9D8B030D-6E8A-4147-A177-3AD203B41FA5}">
                      <a16:colId xmlns:a16="http://schemas.microsoft.com/office/drawing/2014/main" val="4272424808"/>
                    </a:ext>
                  </a:extLst>
                </a:gridCol>
                <a:gridCol w="1781487">
                  <a:extLst>
                    <a:ext uri="{9D8B030D-6E8A-4147-A177-3AD203B41FA5}">
                      <a16:colId xmlns:a16="http://schemas.microsoft.com/office/drawing/2014/main" val="3862439326"/>
                    </a:ext>
                  </a:extLst>
                </a:gridCol>
                <a:gridCol w="1781487">
                  <a:extLst>
                    <a:ext uri="{9D8B030D-6E8A-4147-A177-3AD203B41FA5}">
                      <a16:colId xmlns:a16="http://schemas.microsoft.com/office/drawing/2014/main" val="35214998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Social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Share of Population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Participation Rate (%)</a:t>
                      </a:r>
                    </a:p>
                    <a:p>
                      <a:endParaRPr lang="en-US">
                        <a:solidFill>
                          <a:srgbClr val="F3F3F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2076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Scheduled Tribe (ST)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3152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7.9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43.8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844287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Scheduled Caste (SC)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5978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14.9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28.8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23433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OBC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17057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42.6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24.5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46542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General/Others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13896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34.7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21.6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93450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12E064A-12B0-FC94-FA09-FA955C560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191929"/>
              </p:ext>
            </p:extLst>
          </p:nvPr>
        </p:nvGraphicFramePr>
        <p:xfrm>
          <a:off x="9426002" y="3335140"/>
          <a:ext cx="6172200" cy="26517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22753718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80558789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41403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Education</a:t>
                      </a:r>
                    </a:p>
                    <a:p>
                      <a:pPr>
                        <a:buNone/>
                      </a:pPr>
                      <a:endParaRPr lang="en-IN" dirty="0">
                        <a:solidFill>
                          <a:srgbClr val="F3F3F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Participation Rate (%)</a:t>
                      </a:r>
                    </a:p>
                    <a:p>
                      <a:pPr>
                        <a:buNone/>
                      </a:pPr>
                      <a:endParaRPr lang="en-IN" dirty="0">
                        <a:solidFill>
                          <a:srgbClr val="F3F3F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Median Monthly Wage (₹)</a:t>
                      </a:r>
                    </a:p>
                    <a:p>
                      <a:endParaRPr lang="en-US" dirty="0">
                        <a:solidFill>
                          <a:srgbClr val="F3F3F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416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4. Post-Grad+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40.038536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35000.0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4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1. Low/Illiterate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28.998399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5000.0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674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3. Graduate/Tech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24.060275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15000.0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01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2. Middle/Secondary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3F3F3"/>
                          </a:solidFill>
                        </a:rPr>
                        <a:t>23.755622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3F3F3"/>
                          </a:solidFill>
                        </a:rPr>
                        <a:t>6500.0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27021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32D04FB1-F523-1E13-8490-DCB89FC1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52" y="6553218"/>
            <a:ext cx="15563235" cy="2582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LFPR issue is participation, not unemployment: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Only 1.7% unemployed; 71% out due to domestic duties.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Necessity drives work, not wages: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ST women show highest participation despite low earnings.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Income effect dominates for others: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OBC &amp; General groups have low participation despite higher incomes.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Education shows U-shape: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Participation lowest at mid-education levels despite moderate wages.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Wage dispersion &amp; skill gaps weaken incentives: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7E3B2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Highly skewed wages and limited technical training reduce returns to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5EE09-DDA4-B099-49DB-C9A34CE1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E51260-15C1-D94A-98BC-15D1F0C534FD}"/>
              </a:ext>
            </a:extLst>
          </p:cNvPr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7015D9A-5062-EAF8-2B74-DC80EA94A2B1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8EC0C49-560D-E3E4-53D7-482FCF729571}"/>
              </a:ext>
            </a:extLst>
          </p:cNvPr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6863E9-B8E3-B3E3-5997-5C0B03E00591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31F7D96-F66A-67B8-F41A-66B10B28EC28}"/>
              </a:ext>
            </a:extLst>
          </p:cNvPr>
          <p:cNvSpPr txBox="1"/>
          <p:nvPr/>
        </p:nvSpPr>
        <p:spPr>
          <a:xfrm>
            <a:off x="-5666282" y="455533"/>
            <a:ext cx="1828800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34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KEY INSIGHTS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90FD96-2912-2561-EE8B-76A631957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614" y="5922123"/>
            <a:ext cx="9676407" cy="3980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ED9CEC-1F2F-E1C5-CF9F-86AA21B6E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283" y="1302848"/>
            <a:ext cx="10420350" cy="4286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624A04-2C3F-4A62-9839-DF98D525A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54833"/>
            <a:ext cx="9490999" cy="39039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41BCAF-FF2D-2053-208D-EA9BD015D0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6112" y="5905805"/>
            <a:ext cx="9543721" cy="392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3B22D-81A6-2D95-FE80-E26E1AA5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EFC724-2405-9F83-69C5-0790B810EE3B}"/>
              </a:ext>
            </a:extLst>
          </p:cNvPr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94579F-044F-90DE-4C69-61DCDEC59E68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62FB9BC-0EBA-943C-D12A-62A4F75198A8}"/>
              </a:ext>
            </a:extLst>
          </p:cNvPr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76B38CC-9673-8FBB-90A8-3C9E4769E0A3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1436D1E-A8ED-24A7-EB3A-D7323E5672FA}"/>
              </a:ext>
            </a:extLst>
          </p:cNvPr>
          <p:cNvSpPr txBox="1"/>
          <p:nvPr/>
        </p:nvSpPr>
        <p:spPr>
          <a:xfrm>
            <a:off x="689546" y="709175"/>
            <a:ext cx="18288001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034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PREDICTIVE ANALYTICS WITH MACHINE LEARNING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295B42C-5627-48F0-A18B-4CF5E8461034}"/>
              </a:ext>
            </a:extLst>
          </p:cNvPr>
          <p:cNvSpPr txBox="1"/>
          <p:nvPr/>
        </p:nvSpPr>
        <p:spPr>
          <a:xfrm>
            <a:off x="1771511" y="2611710"/>
            <a:ext cx="692481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35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Employment prediction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7A00F5E-6D28-DA98-D187-B31D94B30E87}"/>
              </a:ext>
            </a:extLst>
          </p:cNvPr>
          <p:cNvSpPr txBox="1"/>
          <p:nvPr/>
        </p:nvSpPr>
        <p:spPr>
          <a:xfrm>
            <a:off x="416811" y="8227623"/>
            <a:ext cx="8460280" cy="1600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2400" b="1" dirty="0">
                <a:solidFill>
                  <a:srgbClr val="17E3B2"/>
                </a:solidFill>
                <a:latin typeface="Aptos" panose="020B0004020202020204" pitchFamily="34" charset="0"/>
              </a:rPr>
              <a:t>Random Forest Classification (Participation)</a:t>
            </a:r>
          </a:p>
          <a:p>
            <a:r>
              <a:rPr lang="en-GB" sz="2000" dirty="0">
                <a:solidFill>
                  <a:schemeClr val="bg1"/>
                </a:solidFill>
                <a:latin typeface="Aptos" panose="020B0004020202020204" pitchFamily="34" charset="0"/>
              </a:rPr>
              <a:t>Age is the strongest predictor, while higher spousal income significantly reduces participation.</a:t>
            </a:r>
          </a:p>
          <a:p>
            <a:r>
              <a:rPr lang="en-GB" sz="2000" dirty="0">
                <a:solidFill>
                  <a:schemeClr val="bg1"/>
                </a:solidFill>
                <a:latin typeface="Aptos" panose="020B0004020202020204" pitchFamily="34" charset="0"/>
              </a:rPr>
              <a:t>Household size lowers participation, and higher qualifications do not ensure labour market entry.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F8710B-D32B-FD35-E9E2-6412EFC1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4852" y="3553861"/>
            <a:ext cx="9743607" cy="4468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26300D-B71E-C040-3EEE-092D96C70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480784"/>
            <a:ext cx="9743607" cy="4286250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348E25BC-284E-C702-2985-CBCC7175F569}"/>
              </a:ext>
            </a:extLst>
          </p:cNvPr>
          <p:cNvSpPr txBox="1"/>
          <p:nvPr/>
        </p:nvSpPr>
        <p:spPr>
          <a:xfrm>
            <a:off x="12217999" y="2611710"/>
            <a:ext cx="521682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35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Wage prediction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9D9D3-8C81-E388-DC9C-773A42E5ECC4}"/>
              </a:ext>
            </a:extLst>
          </p:cNvPr>
          <p:cNvSpPr txBox="1"/>
          <p:nvPr/>
        </p:nvSpPr>
        <p:spPr>
          <a:xfrm>
            <a:off x="9688252" y="8227623"/>
            <a:ext cx="846027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17E3B2"/>
                </a:solidFill>
                <a:latin typeface="Aptos" panose="020B0004020202020204" pitchFamily="34" charset="0"/>
              </a:rPr>
              <a:t>Random Forest Regression (Wages)</a:t>
            </a:r>
          </a:p>
          <a:p>
            <a:r>
              <a:rPr lang="en-GB" sz="2000" dirty="0">
                <a:solidFill>
                  <a:schemeClr val="bg1"/>
                </a:solidFill>
                <a:latin typeface="Aptos" panose="020B0004020202020204" pitchFamily="34" charset="0"/>
              </a:rPr>
              <a:t>Though weak for Employment participation, Education is strongest predictor of wage.</a:t>
            </a:r>
            <a:br>
              <a:rPr lang="en-GB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GB" sz="2000" dirty="0">
                <a:solidFill>
                  <a:schemeClr val="bg1"/>
                </a:solidFill>
                <a:latin typeface="Aptos" panose="020B0004020202020204" pitchFamily="34" charset="0"/>
              </a:rPr>
              <a:t>Factors affecting wages differ from those affecting participation, underscoring non-wage constraints on labour supply.</a:t>
            </a:r>
          </a:p>
        </p:txBody>
      </p:sp>
    </p:spTree>
    <p:extLst>
      <p:ext uri="{BB962C8B-B14F-4D97-AF65-F5344CB8AC3E}">
        <p14:creationId xmlns:p14="http://schemas.microsoft.com/office/powerpoint/2010/main" val="133293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2575A-3759-2ACD-BD47-65611131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080CCF-2730-A20B-3861-C0DD691E17FC}"/>
              </a:ext>
            </a:extLst>
          </p:cNvPr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C4B3620-8BF2-FCD0-455B-8CEB8FCB2350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EBD97D5-4FA2-B334-A5F9-C27464AB28C6}"/>
              </a:ext>
            </a:extLst>
          </p:cNvPr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19338B9-8ABD-AE07-1EDA-0F7915DA6D0F}"/>
                </a:ext>
              </a:extLst>
            </p:cNvPr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r="-2017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27D93CA-57E3-7551-E0FC-7AB2AEA595A4}"/>
              </a:ext>
            </a:extLst>
          </p:cNvPr>
          <p:cNvSpPr txBox="1"/>
          <p:nvPr/>
        </p:nvSpPr>
        <p:spPr>
          <a:xfrm>
            <a:off x="-5173055" y="799117"/>
            <a:ext cx="18288001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34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63DA3-2086-2443-DB55-2B37A828EBC8}"/>
              </a:ext>
            </a:extLst>
          </p:cNvPr>
          <p:cNvSpPr txBox="1"/>
          <p:nvPr/>
        </p:nvSpPr>
        <p:spPr>
          <a:xfrm>
            <a:off x="1109271" y="2238449"/>
            <a:ext cx="12876551" cy="75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Labour supply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decisions of married women in urban India are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driven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primarily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household income, life-cycle constraints, and so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cial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norms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rather than wages alone.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Education strongly increases wages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 has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limited effect on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labour force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participation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revealing a persistent participation–wage mismatch.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Income effects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arising from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spousal earnings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significantly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 women’s labour supply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especially during prime working ages.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Household size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childcare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responsibilities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raise the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opportunity cost 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 market work, further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discouraging participation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The evidence points to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non-linear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context-dependent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labour supply </a:t>
            </a:r>
            <a:r>
              <a:rPr lang="en-IN" sz="2800" kern="100" dirty="0">
                <a:solidFill>
                  <a:srgbClr val="17E3B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behaviour</a:t>
            </a:r>
            <a:r>
              <a:rPr lang="en-IN" sz="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underscoring the limits of purely market-based explanations.</a:t>
            </a:r>
          </a:p>
        </p:txBody>
      </p:sp>
    </p:spTree>
    <p:extLst>
      <p:ext uri="{BB962C8B-B14F-4D97-AF65-F5344CB8AC3E}">
        <p14:creationId xmlns:p14="http://schemas.microsoft.com/office/powerpoint/2010/main" val="82964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690195" y="3049848"/>
            <a:ext cx="7569105" cy="7868257"/>
            <a:chOff x="0" y="0"/>
            <a:chExt cx="6108573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690195" y="736179"/>
            <a:ext cx="7569105" cy="7868257"/>
            <a:chOff x="0" y="0"/>
            <a:chExt cx="6108573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8977" y="3320418"/>
            <a:ext cx="5735021" cy="249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23"/>
              </a:lnSpc>
            </a:pPr>
            <a:r>
              <a:rPr lang="en-US" sz="8800" b="1" spc="41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THANK YOU</a:t>
            </a:r>
            <a:endParaRPr lang="en-US" sz="8800">
              <a:ea typeface="Calibri"/>
              <a:cs typeface="Calibri"/>
            </a:endParaRP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690195" y="-62141"/>
            <a:ext cx="7569105" cy="7868257"/>
            <a:chOff x="0" y="0"/>
            <a:chExt cx="6108573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r="-280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690195" y="1390043"/>
            <a:ext cx="7569105" cy="7868257"/>
            <a:chOff x="0" y="0"/>
            <a:chExt cx="6108573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B3FD832-390E-AA93-953D-3A24C3B516CA}"/>
              </a:ext>
            </a:extLst>
          </p:cNvPr>
          <p:cNvSpPr txBox="1"/>
          <p:nvPr/>
        </p:nvSpPr>
        <p:spPr>
          <a:xfrm>
            <a:off x="1553028" y="7532914"/>
            <a:ext cx="534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B0F0"/>
                </a:solidFill>
                <a:latin typeface="Aptos" panose="020B0004020202020204" pitchFamily="34" charset="0"/>
              </a:rPr>
              <a:t>Dashboard link:  </a:t>
            </a:r>
            <a:r>
              <a:rPr lang="en-IN" sz="2400" dirty="0">
                <a:solidFill>
                  <a:srgbClr val="00B0F0"/>
                </a:solidFill>
                <a:latin typeface="Aptos" panose="020B0004020202020204" pitchFamily="34" charset="0"/>
              </a:rPr>
              <a:t>: </a:t>
            </a:r>
            <a:r>
              <a:rPr lang="en-IN" sz="2400" u="sng" dirty="0">
                <a:solidFill>
                  <a:schemeClr val="bg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https://plfsanalysis.streamlit.app/</a:t>
            </a:r>
            <a:endParaRPr lang="en-IN" sz="2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DF314-0AF8-608D-9197-255A331E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8CA044E7-52AB-6BEA-5C90-898F9B18FFAB}"/>
              </a:ext>
            </a:extLst>
          </p:cNvPr>
          <p:cNvSpPr txBox="1"/>
          <p:nvPr/>
        </p:nvSpPr>
        <p:spPr>
          <a:xfrm>
            <a:off x="261091" y="500079"/>
            <a:ext cx="5735021" cy="123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23"/>
              </a:lnSpc>
            </a:pPr>
            <a:r>
              <a:rPr lang="en-US" sz="8800" b="1" spc="419" dirty="0">
                <a:solidFill>
                  <a:schemeClr val="bg1"/>
                </a:solidFill>
                <a:latin typeface="Aptos" panose="020B0004020202020204" pitchFamily="34" charset="0"/>
                <a:ea typeface="Almarai Bold"/>
                <a:cs typeface="Almarai Bold"/>
                <a:sym typeface="Almarai Bold"/>
              </a:rPr>
              <a:t>Appendix</a:t>
            </a:r>
            <a:endParaRPr lang="en-US" sz="8800" dirty="0">
              <a:solidFill>
                <a:schemeClr val="bg1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82E3-3B09-5408-9B71-4C7904DE021C}"/>
              </a:ext>
            </a:extLst>
          </p:cNvPr>
          <p:cNvSpPr txBox="1"/>
          <p:nvPr/>
        </p:nvSpPr>
        <p:spPr>
          <a:xfrm>
            <a:off x="638463" y="2643421"/>
            <a:ext cx="15733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7E3B2"/>
                </a:solidFill>
                <a:latin typeface="Aptos" panose="020B0004020202020204" pitchFamily="34" charset="0"/>
              </a:rPr>
              <a:t>PLFS </a:t>
            </a:r>
            <a:r>
              <a:rPr lang="en-IN" sz="2400" dirty="0" err="1">
                <a:solidFill>
                  <a:srgbClr val="17E3B2"/>
                </a:solidFill>
                <a:latin typeface="Aptos" panose="020B0004020202020204" pitchFamily="34" charset="0"/>
              </a:rPr>
              <a:t>Datasource</a:t>
            </a:r>
            <a:r>
              <a:rPr lang="en-IN" sz="2400" dirty="0">
                <a:solidFill>
                  <a:srgbClr val="17E3B2"/>
                </a:solidFill>
                <a:latin typeface="Aptos" panose="020B0004020202020204" pitchFamily="34" charset="0"/>
              </a:rPr>
              <a:t>: </a:t>
            </a:r>
            <a:r>
              <a:rPr lang="en-IN" sz="2400" u="sng" dirty="0">
                <a:solidFill>
                  <a:schemeClr val="bg1"/>
                </a:solidFill>
                <a:latin typeface="Aptos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https://microdata.gov.in/NADA/index.php/catalog/213</a:t>
            </a:r>
            <a:endParaRPr lang="en-IN" sz="2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7E3B2"/>
                </a:solidFill>
                <a:latin typeface="Aptos" panose="020B0004020202020204" pitchFamily="34" charset="0"/>
              </a:rPr>
              <a:t>All the code involving Data Processing, Analysis and Machine Learning models: </a:t>
            </a:r>
            <a:r>
              <a:rPr lang="en-IN" sz="2400" u="sng" dirty="0">
                <a:solidFill>
                  <a:schemeClr val="bg1"/>
                </a:solidFill>
                <a:latin typeface="Aptos" panose="020B00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https://github.com/ShubhamBhut/PLFS-Analysis---LE-Assignment</a:t>
            </a:r>
            <a:endParaRPr lang="en-IN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83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C451329735B4087BA0AEC966E5DC8" ma:contentTypeVersion="5" ma:contentTypeDescription="Create a new document." ma:contentTypeScope="" ma:versionID="dcb45e51443dd2f22f982ad4f76aff69">
  <xsd:schema xmlns:xsd="http://www.w3.org/2001/XMLSchema" xmlns:xs="http://www.w3.org/2001/XMLSchema" xmlns:p="http://schemas.microsoft.com/office/2006/metadata/properties" xmlns:ns3="f20c893c-a389-4b98-8f8b-aa957ba2def4" targetNamespace="http://schemas.microsoft.com/office/2006/metadata/properties" ma:root="true" ma:fieldsID="ada3fbfd813a9ff776de6e9be7294215" ns3:_="">
    <xsd:import namespace="f20c893c-a389-4b98-8f8b-aa957ba2def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c893c-a389-4b98-8f8b-aa957ba2def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0c893c-a389-4b98-8f8b-aa957ba2def4" xsi:nil="true"/>
  </documentManagement>
</p:properties>
</file>

<file path=customXml/itemProps1.xml><?xml version="1.0" encoding="utf-8"?>
<ds:datastoreItem xmlns:ds="http://schemas.openxmlformats.org/officeDocument/2006/customXml" ds:itemID="{3D452BBA-E8D0-4623-B131-CF8963850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0c893c-a389-4b98-8f8b-aa957ba2de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C35C3C-B615-4D42-A514-F8C7A7AD5A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8B4F9F-7F19-4EB4-AF07-C975351B1AF8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f20c893c-a389-4b98-8f8b-aa957ba2def4"/>
    <ds:schemaRef ds:uri="http://www.w3.org/XML/1998/namespace"/>
    <ds:schemaRef ds:uri="http://purl.org/dc/elements/1.1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713</Words>
  <Application>Microsoft Office PowerPoint</Application>
  <PresentationFormat>Custom</PresentationFormat>
  <Paragraphs>95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Almarai Bold</vt:lpstr>
      <vt:lpstr>Almarai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Business Project Presentation</dc:title>
  <dc:creator>Shubham Bhut</dc:creator>
  <cp:lastModifiedBy>BHUT KISHORBHAI</cp:lastModifiedBy>
  <cp:revision>3</cp:revision>
  <dcterms:created xsi:type="dcterms:W3CDTF">2006-08-16T00:00:00Z</dcterms:created>
  <dcterms:modified xsi:type="dcterms:W3CDTF">2026-01-08T17:52:18Z</dcterms:modified>
  <dc:identifier>DAG9po0wWjM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0x0101006BAC451329735B4087BA0AEC966E5DC8</vt:lpwstr>
  </property>
</Properties>
</file>